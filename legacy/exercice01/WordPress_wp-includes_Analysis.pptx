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2560320"/>
            <a:ext cx="3931920" cy="508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E9AF5"/>
                </a:solidFill>
                <a:latin typeface="Segoe UI"/>
              </a:defRPr>
            </a:pPr>
            <a:r>
              <a:t>WordPress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Carte des dépendances de wp-includes/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A0AABE"/>
                </a:solidFill>
                <a:latin typeface="Segoe UI"/>
              </a:defRPr>
            </a:pPr>
            <a:r>
              <a:t>Analyse architecturale des couplages &amp; identification des God Classes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CD0DA"/>
                </a:solidFill>
                <a:latin typeface="Segoe UI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A0AABE"/>
                </a:solidFill>
                <a:latin typeface="Segoe UI"/>
              </a:defRPr>
            </a:pPr>
            <a:r>
              <a:t>Février 2026  •  Analyse statique  •  29+ fichiers  •  1 500+ fonctions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4389120"/>
            <a:ext cx="1371600" cy="1371600"/>
          </a:xfrm>
          <a:prstGeom prst="roundRect">
            <a:avLst/>
          </a:prstGeom>
          <a:solidFill>
            <a:srgbClr val="2D3A55"/>
          </a:solidFill>
          <a:ln w="254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  <a:defRPr sz="3600" b="1">
                <a:solidFill>
                  <a:srgbClr val="4E9AF5"/>
                </a:solidFill>
                <a:latin typeface="Segoe UI"/>
              </a:defRPr>
            </a:pPr>
            <a:r>
              <a:t>WP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9AF5"/>
                </a:solidFill>
                <a:latin typeface="Segoe UI"/>
              </a:defRPr>
            </a:pPr>
            <a:r>
              <a:t>Méthodologie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81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1031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457200" cy="4572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F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Analyse statique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4884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Scan des require/require_once/include/include_once</a:t>
            </a:r>
            <a:br/>
            <a:r>
              <a:t>dans tout wp-includes/*.php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212080" cy="21031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1645920"/>
            <a:ext cx="457200" cy="457200"/>
          </a:xfrm>
          <a:prstGeom prst="round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F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Références croisées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4884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Comptage des dépendances inter-fichiers</a:t>
            </a:r>
            <a:br/>
            <a:r>
              <a:t>29+ fichiers analysés en profondeur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4206240"/>
            <a:ext cx="457200" cy="457200"/>
          </a:xfrm>
          <a:prstGeom prst="round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F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06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Couplage fonctionnel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7091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Identification des fonctions les plus appelées :</a:t>
            </a:r>
            <a:br/>
            <a:r>
              <a:t>get_option (75 fichiers), wp_parse_args (59)…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20"/>
            <a:ext cx="5212080" cy="21031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4206240"/>
            <a:ext cx="45720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F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206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Métriques de complexité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7091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Lignes de code, nombre de fonctions/méthodes,</a:t>
            </a:r>
            <a:br/>
            <a:r>
              <a:t>taille en KB, nombre de hooks par fichier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9AF5"/>
                </a:solidFill>
                <a:latin typeface="Segoe UI"/>
              </a:defRPr>
            </a:pPr>
            <a:r>
              <a:t>Carte des dépendances — Vue d'ensemble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5486400" cy="381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FONDATION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11430000" cy="12700"/>
          </a:xfrm>
          <a:prstGeom prst="round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Segoe UI"/>
              </a:defRPr>
            </a:pPr>
            <a:r>
              <a:t>NOYAU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63240"/>
            <a:ext cx="11430000" cy="12700"/>
          </a:xfrm>
          <a:prstGeom prst="round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1CF66"/>
                </a:solidFill>
                <a:latin typeface="Segoe UI"/>
              </a:defRPr>
            </a:pPr>
            <a:r>
              <a:t>MÉTIER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892040"/>
            <a:ext cx="11430000" cy="12700"/>
          </a:xfrm>
          <a:prstGeom prst="round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1463040"/>
            <a:ext cx="3474720" cy="109728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plugin.php (Hook System)</a:t>
            </a:r>
          </a:p>
          <a:p>
            <a:pPr algn="ctr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Score: 10/10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add_filter / do_action → TOUS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63040"/>
            <a:ext cx="3474720" cy="109728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class-wpdb.php (BDD)</a:t>
            </a:r>
          </a:p>
          <a:p>
            <a:pPr algn="ctr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Score: 10/10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72 méthodes • 120 KB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3200400" cy="100584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post.php</a:t>
            </a:r>
          </a:p>
          <a:p>
            <a:pPr algn="ctr">
              <a:defRPr sz="1000" b="1">
                <a:solidFill>
                  <a:srgbClr val="FF9F43"/>
                </a:solidFill>
                <a:latin typeface="Segoe UI"/>
              </a:defRPr>
            </a:pPr>
            <a:r>
              <a:t>Score: 9/10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145 fn • 301 KB • 29 refs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291840"/>
            <a:ext cx="3200400" cy="100584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functions.php</a:t>
            </a:r>
          </a:p>
          <a:p>
            <a:pPr algn="ctr">
              <a:defRPr sz="1000" b="1">
                <a:solidFill>
                  <a:srgbClr val="FF9F43"/>
                </a:solidFill>
                <a:latin typeface="Segoe UI"/>
              </a:defRPr>
            </a:pPr>
            <a:r>
              <a:t>Score: 8/10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214 fn • 292 KB • 11 refs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91840"/>
            <a:ext cx="3200400" cy="100584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formatting.php</a:t>
            </a:r>
          </a:p>
          <a:p>
            <a:pPr algn="ctr">
              <a:defRPr sz="1000" b="1">
                <a:solidFill>
                  <a:srgbClr val="FFD43B"/>
                </a:solidFill>
                <a:latin typeface="Segoe UI"/>
              </a:defRPr>
            </a:pPr>
            <a:r>
              <a:t>Score: 7/10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120 fn • 353 KB • 20 refs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20640"/>
            <a:ext cx="2194560" cy="91440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media.php</a:t>
            </a:r>
          </a:p>
          <a:p>
            <a:pPr algn="ctr">
              <a:defRPr sz="1000" b="1">
                <a:solidFill>
                  <a:srgbClr val="51CF66"/>
                </a:solidFill>
                <a:latin typeface="Segoe UI"/>
              </a:defRPr>
            </a:pPr>
            <a:r>
              <a:t>Score: 6/10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99 fn • 228 KB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5120640"/>
            <a:ext cx="2377440" cy="91440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general-template</a:t>
            </a:r>
          </a:p>
          <a:p>
            <a:pPr algn="ctr">
              <a:defRPr sz="1000" b="1">
                <a:solidFill>
                  <a:srgbClr val="51CF66"/>
                </a:solidFill>
                <a:latin typeface="Segoe UI"/>
              </a:defRPr>
            </a:pPr>
            <a:r>
              <a:t>Score: 6/10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94 fn • 176 KB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5120640"/>
            <a:ext cx="2103120" cy="91440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user.php</a:t>
            </a:r>
          </a:p>
          <a:p>
            <a:pPr algn="ctr">
              <a:defRPr sz="1000" b="1">
                <a:solidFill>
                  <a:srgbClr val="51CF66"/>
                </a:solidFill>
                <a:latin typeface="Segoe UI"/>
              </a:defRPr>
            </a:pPr>
            <a:r>
              <a:t>Score: 6/10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78 fn • 180 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5120640"/>
            <a:ext cx="2103120" cy="91440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taxonomy.php</a:t>
            </a:r>
          </a:p>
          <a:p>
            <a:pPr algn="ctr">
              <a:defRPr sz="1000" b="1">
                <a:solidFill>
                  <a:srgbClr val="51CF66"/>
                </a:solidFill>
                <a:latin typeface="Segoe UI"/>
              </a:defRPr>
            </a:pPr>
            <a:r>
              <a:t>Score: 5/10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80 fn • 179 KB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5120640"/>
            <a:ext cx="1645920" cy="91440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meta.php</a:t>
            </a:r>
          </a:p>
          <a:p>
            <a:pPr algn="ctr">
              <a:defRPr sz="1000" b="1">
                <a:solidFill>
                  <a:srgbClr val="51CF66"/>
                </a:solidFill>
                <a:latin typeface="Segoe UI"/>
              </a:defRPr>
            </a:pPr>
            <a:r>
              <a:t>Score: 5/10</a:t>
            </a:r>
          </a:p>
          <a:p>
            <a:pPr algn="ctr">
              <a:defRPr sz="900">
                <a:solidFill>
                  <a:srgbClr val="A0AABE"/>
                </a:solidFill>
                <a:latin typeface="Segoe UI"/>
              </a:defRPr>
            </a:pPr>
            <a:r>
              <a:t>~30 fn • 67 KB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286000" y="2560320"/>
            <a:ext cx="1737360" cy="731520"/>
          </a:xfrm>
          <a:prstGeom prst="line">
            <a:avLst/>
          </a:prstGeom>
          <a:ln w="1905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23360" y="2560320"/>
            <a:ext cx="1920240" cy="731520"/>
          </a:xfrm>
          <a:prstGeom prst="line">
            <a:avLst/>
          </a:prstGeom>
          <a:ln w="1905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23360" y="2560320"/>
            <a:ext cx="5577840" cy="731520"/>
          </a:xfrm>
          <a:prstGeom prst="line">
            <a:avLst/>
          </a:prstGeom>
          <a:ln w="19050">
            <a:solidFill>
              <a:srgbClr val="FFD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554480" y="4297680"/>
            <a:ext cx="731520" cy="822960"/>
          </a:xfrm>
          <a:prstGeom prst="line">
            <a:avLst/>
          </a:prstGeom>
          <a:ln w="19050">
            <a:solidFill>
              <a:srgbClr val="51C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0" y="4297680"/>
            <a:ext cx="4297680" cy="822960"/>
          </a:xfrm>
          <a:prstGeom prst="line">
            <a:avLst/>
          </a:prstGeom>
          <a:ln w="19050">
            <a:solidFill>
              <a:srgbClr val="51C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0" y="4297680"/>
            <a:ext cx="6675120" cy="822960"/>
          </a:xfrm>
          <a:prstGeom prst="line">
            <a:avLst/>
          </a:prstGeom>
          <a:ln w="19050">
            <a:solidFill>
              <a:srgbClr val="51C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9AF5"/>
                </a:solidFill>
                <a:latin typeface="Segoe UI"/>
              </a:defRPr>
            </a:pPr>
            <a:r>
              <a:t>Top 10 — Classement par couplage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4572000" cy="381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8869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1645920"/>
                <a:gridCol w="1097280"/>
                <a:gridCol w="20116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A50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Fichier</a:t>
                      </a:r>
                    </a:p>
                  </a:txBody>
                  <a:tcPr>
                    <a:solidFill>
                      <a:srgbClr val="2A50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Fonctions</a:t>
                      </a:r>
                    </a:p>
                  </a:txBody>
                  <a:tcPr>
                    <a:solidFill>
                      <a:srgbClr val="2A50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Taille</a:t>
                      </a:r>
                    </a:p>
                  </a:txBody>
                  <a:tcPr>
                    <a:solidFill>
                      <a:srgbClr val="2A50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Réf. par N fichiers</a:t>
                      </a:r>
                    </a:p>
                  </a:txBody>
                  <a:tcPr>
                    <a:solidFill>
                      <a:srgbClr val="2A50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A50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plugin.php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Hook system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TOUS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10/10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class-wpdb.php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72 méthodes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120 KB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TOUS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10/10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post.php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301 KB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functions.php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292 KB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8/10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formatting.php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353 KB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7/10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media.php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99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228 KB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6/10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general-template.php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176 KB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6/10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user.php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180 KB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6/10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taxonomy.php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179 KB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5/10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meta.php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~30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67 KB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5/10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9AF5"/>
                </a:solidFill>
                <a:latin typeface="Segoe UI"/>
              </a:defRPr>
            </a:pPr>
            <a:r>
              <a:t>Couplage fonctionnel — Fonctions les plus utilisées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6400800" cy="381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Fonction</a:t>
                      </a:r>
                    </a:p>
                  </a:txBody>
                  <a:tcPr>
                    <a:solidFill>
                      <a:srgbClr val="2A50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Fichier source</a:t>
                      </a:r>
                    </a:p>
                  </a:txBody>
                  <a:tcPr>
                    <a:solidFill>
                      <a:srgbClr val="2A50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Utilisée dans</a:t>
                      </a:r>
                    </a:p>
                  </a:txBody>
                  <a:tcPr>
                    <a:solidFill>
                      <a:srgbClr val="2A50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get_option()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option.php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75 fichiers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wp_parse_args()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functions.php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59 fichiers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get_post()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post.php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44 fichiers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add_filter()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plugin.php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40+ fichiers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wp_insert_post()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post.php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11 fichiers</a:t>
                      </a:r>
                    </a:p>
                  </a:txBody>
                  <a:tcPr>
                    <a:solidFill>
                      <a:srgbClr val="2D3A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sanitize_text_field()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formatting.php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CD0DA"/>
                          </a:solidFill>
                          <a:latin typeface="Segoe UI"/>
                        </a:defRPr>
                      </a:pPr>
                      <a:r>
                        <a:t>9 fichiers</a:t>
                      </a:r>
                    </a:p>
                  </a:txBody>
                  <a:tcPr>
                    <a:solidFill>
                      <a:srgbClr val="222A3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188720"/>
            <a:ext cx="3657600" cy="411480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3716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9F43"/>
                </a:solidFill>
                <a:latin typeface="Segoe UI"/>
              </a:defRPr>
            </a:pPr>
            <a:r>
              <a:t>Insight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CD0DA"/>
                </a:solidFill>
                <a:latin typeface="Segoe UI"/>
              </a:defRPr>
            </a:pPr>
            <a:r>
              <a:t>get_option() est appelée dans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FF9F43"/>
                </a:solidFill>
                <a:latin typeface="Segoe UI"/>
              </a:defRPr>
            </a:pPr>
            <a:r>
              <a:t>75 fichiers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Ce couplage implicite massif rend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toute modification de la couche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options extrêmement risquée.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Le hook system (add_filter) est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le vrai ciment de WordPress 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un bus d'événements implicite.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God Class #1 — WP_Query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E"/>
                </a:solidFill>
                <a:latin typeface="Segoe UI"/>
              </a:defRPr>
            </a:pPr>
            <a:r>
              <a:t>class-wp-query.php — La God Class principale de WordPress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5 113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Lignes 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Méthodes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43B"/>
                </a:solidFill>
                <a:latin typeface="Segoe UI"/>
              </a:defRPr>
            </a:pPr>
            <a:r>
              <a:t>165 KB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Taille fichier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~15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Responsabilités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486400" cy="3840480"/>
          </a:xfrm>
          <a:prstGeom prst="roundRect">
            <a:avLst/>
          </a:prstGeom>
          <a:solidFill>
            <a:srgbClr val="22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9F43"/>
                </a:solidFill>
                <a:latin typeface="Segoe UI"/>
              </a:defRPr>
            </a:pPr>
            <a:r>
              <a:t>Responsabilités mélangées :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Parsing d'URL et interprétation de requête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Construction SQL bas niveau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Gestion de boucle posts (next_post, the_post, have_posts)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Gestion de boucle commentaires (the_comment, have_comments)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Détection d'archives (is_archive, is_category, is_tag…)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743200"/>
            <a:ext cx="5303520" cy="3840480"/>
          </a:xfrm>
          <a:prstGeom prst="roundRect">
            <a:avLst/>
          </a:prstGeom>
          <a:solidFill>
            <a:srgbClr val="22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8346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6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Logique conditionnelle de templates (is_single, is_page, is_404…)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Tri et ordonnancement (parse_orderby, parse_order)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Requêtes taxonomie (parse_tax_query)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Requêtes meta (WP_Meta_Query, WP_Tax_Query, WP_Date_Query)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CD0DA"/>
                </a:solidFill>
                <a:latin typeface="Segoe UI"/>
              </a:defRPr>
            </a:pPr>
            <a:r>
              <a:t>  •  Gestion du cache de résultats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FF6B6B"/>
                </a:solidFill>
                <a:latin typeface="Segoe UI"/>
              </a:defRPr>
            </a:pPr>
            <a:r>
              <a:t>Verdict : Violation massive du SRP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ABE"/>
                </a:solidFill>
                <a:latin typeface="Segoe UI"/>
              </a:defRPr>
            </a:pPr>
            <a:r>
              <a:t>(Single Responsibility Principle)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God Class #2 — wpdb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E"/>
                </a:solidFill>
                <a:latin typeface="Segoe UI"/>
              </a:defRPr>
            </a:pPr>
            <a:r>
              <a:t>class-wpdb.php — Le monopole de la base de données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  <a:latin typeface="Segoe UI"/>
              </a:defRPr>
            </a:pPr>
            <a:r>
              <a:t>4 146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Lignes 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Méthodes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43B"/>
                </a:solidFill>
                <a:latin typeface="Segoe UI"/>
              </a:defRPr>
            </a:pPr>
            <a:r>
              <a:t>120 KB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Taille fichier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Opérations BDD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2560320" cy="109728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A"/>
                </a:solidFill>
                <a:latin typeface="Segoe UI"/>
              </a:defRPr>
            </a:pPr>
            <a:r>
              <a:t>Connexion &amp; abstraction BDD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2926080"/>
            <a:ext cx="2560320" cy="109728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A"/>
                </a:solidFill>
                <a:latin typeface="Segoe UI"/>
              </a:defRPr>
            </a:pPr>
            <a:r>
              <a:t>Échappement &amp; sanitisation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26080"/>
            <a:ext cx="2560320" cy="109728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7E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A"/>
                </a:solidFill>
                <a:latin typeface="Segoe UI"/>
              </a:defRPr>
            </a:pPr>
            <a:r>
              <a:t>Gestion des préfixes de 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926080"/>
            <a:ext cx="2560320" cy="109728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B07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A"/>
                </a:solidFill>
                <a:latin typeface="Segoe UI"/>
              </a:defRPr>
            </a:pPr>
            <a:r>
              <a:t>Support multi-types de BDD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2560320" cy="109728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A"/>
                </a:solidFill>
                <a:latin typeface="Segoe UI"/>
              </a:defRPr>
            </a:pPr>
            <a:r>
              <a:t>Couche de mise en cache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389120"/>
            <a:ext cx="2560320" cy="109728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A"/>
                </a:solidFill>
                <a:latin typeface="Segoe UI"/>
              </a:defRPr>
            </a:pPr>
            <a:r>
              <a:t>Exécution de requêtes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389120"/>
            <a:ext cx="2560320" cy="109728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A"/>
                </a:solidFill>
                <a:latin typeface="Segoe UI"/>
              </a:defRPr>
            </a:pPr>
            <a:r>
              <a:t>Formatage des résultats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4389120"/>
            <a:ext cx="2560320" cy="109728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A"/>
                </a:solidFill>
                <a:latin typeface="Segoe UI"/>
              </a:defRPr>
            </a:pPr>
            <a:r>
              <a:t>Introspection de schéma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5943600"/>
            <a:ext cx="9418320" cy="640080"/>
          </a:xfrm>
          <a:prstGeom prst="roundRect">
            <a:avLst/>
          </a:prstGeom>
          <a:solidFill>
            <a:srgbClr val="3D1A1A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9893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Impossible à refactorer sans tout casser — point de passage OBLIGATOIRE de toute opération BDD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God Class #3 — WP_Customize_Manager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E"/>
                </a:solidFill>
                <a:latin typeface="Segoe UI"/>
              </a:defRPr>
            </a:pPr>
            <a:r>
              <a:t>class-wp-customize-manager.php — Le monolithe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6 162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Lignes 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Méthodes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  <a:latin typeface="Segoe UI"/>
              </a:defRPr>
            </a:pPr>
            <a:r>
              <a:t>205 KB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Taille fichier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280160"/>
            <a:ext cx="2468880" cy="11887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Plus gros fichier classe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34640"/>
            <a:ext cx="10972800" cy="3474720"/>
          </a:xfrm>
          <a:prstGeom prst="roundRect">
            <a:avLst/>
          </a:prstGeom>
          <a:solidFill>
            <a:srgbClr val="22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F9F43"/>
                </a:solidFill>
                <a:latin typeface="Segoe UI"/>
              </a:defRPr>
            </a:pPr>
            <a:r>
              <a:t>8 responsabilités distinctes dans une seule classe 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CD0DA"/>
                </a:solidFill>
                <a:latin typeface="Segoe UI"/>
              </a:defRPr>
            </a:pPr>
            <a:r>
              <a:t>  1.  UI de personnalisation du thème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A"/>
                </a:solidFill>
                <a:latin typeface="Segoe UI"/>
              </a:defRPr>
            </a:pPr>
            <a:r>
              <a:t>  2.  Enregistrement et gestion des contrôles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A"/>
                </a:solidFill>
                <a:latin typeface="Segoe UI"/>
              </a:defRPr>
            </a:pPr>
            <a:r>
              <a:t>  3.  Gestion des panneaux et sections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A"/>
                </a:solidFill>
                <a:latin typeface="Segoe UI"/>
              </a:defRPr>
            </a:pPr>
            <a:r>
              <a:t>  4.  Enregistrement des settings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A"/>
                </a:solidFill>
                <a:latin typeface="Segoe UI"/>
              </a:defRPr>
            </a:pPr>
            <a:r>
              <a:t>  5.  Gestion JavaScript/CSS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A"/>
                </a:solidFill>
                <a:latin typeface="Segoe UI"/>
              </a:defRPr>
            </a:pPr>
            <a:r>
              <a:t>  6.  Gestion du preview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A"/>
                </a:solidFill>
                <a:latin typeface="Segoe UI"/>
              </a:defRPr>
            </a:pPr>
            <a:r>
              <a:t>  7.  Logique de sauvegarde/validation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A"/>
                </a:solidFill>
                <a:latin typeface="Segoe UI"/>
              </a:defRPr>
            </a:pPr>
            <a:r>
              <a:t>  8.  Vérification des capabilities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F6B6B"/>
                </a:solidFill>
                <a:latin typeface="Segoe UI"/>
              </a:defRPr>
            </a:pPr>
            <a:r>
              <a:t>Le plus grand nombre de méthodes de tout le codebase WordPress.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43"/>
                </a:solidFill>
                <a:latin typeface="Segoe UI"/>
              </a:defRPr>
            </a:pPr>
            <a:r>
              <a:t>God Files procéduraux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4114800" cy="381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9F43"/>
                </a:solidFill>
                <a:latin typeface="Segoe UI"/>
              </a:defRPr>
            </a:pPr>
            <a:r>
              <a:t>functions.php — Le fourre-tout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9 255 lignes  •  214 fonctions  •  292 KB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CCD0DA"/>
                </a:solidFill>
                <a:latin typeface="Segoe UI"/>
              </a:defRPr>
            </a:pPr>
            <a:r>
              <a:t>Catégories mélangées 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Gestion des dates et du temps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Sanitisation de variables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Compatibilité PHP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Gestion des erreurs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Vérifications admin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Manipulation d'URLs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Manipulation de tableaux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Helpers de plugins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Gestion de la mémoire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FF9F43"/>
                </a:solidFill>
                <a:latin typeface="Segoe UI"/>
              </a:defRPr>
            </a:pPr>
            <a:r>
              <a:t>Dépendance implicite dans tout le codebase.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6B6B"/>
                </a:solidFill>
                <a:latin typeface="Segoe UI"/>
              </a:defRPr>
            </a:pPr>
            <a:r>
              <a:t>post.php — Le plus couplé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8 697 lignes  •  145 fonctions  •  301 KB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111 appels de hooks (record)  •  29 refs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CCD0DA"/>
                </a:solidFill>
                <a:latin typeface="Segoe UI"/>
              </a:defRPr>
            </a:pPr>
            <a:r>
              <a:t>Responsabilités mélangées 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CRUD posts (insert, update, delete)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Statuts (publish, trash, untrash)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Types de post (register, get, exists)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Révisions (save, get revisions)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Pièces jointes (insert, delete attachment)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Taxonomie (set_object_terms, cache)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ABE"/>
                </a:solidFill>
                <a:latin typeface="Segoe UI"/>
              </a:defRPr>
            </a:pPr>
            <a:r>
              <a:t>  •  Métadonnées (update_post_meta, get)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CD0DA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FF6B6B"/>
                </a:solidFill>
                <a:latin typeface="Segoe UI"/>
              </a:defRPr>
            </a:pPr>
            <a:r>
              <a:t>Le fichier le plus référencé du codebase :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FF6B6B"/>
                </a:solidFill>
                <a:latin typeface="Segoe UI"/>
              </a:defRPr>
            </a:pPr>
            <a:r>
              <a:t>29 fichiers en dépendent directement.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Dépendances circulaires détectées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5029200" cy="381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411480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1828800" y="1463040"/>
            <a:ext cx="914400" cy="914400"/>
          </a:xfrm>
          <a:prstGeom prst="donu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Boucle 1 — Hook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E"/>
                </a:solidFill>
                <a:latin typeface="Segoe UI"/>
              </a:defRPr>
            </a:pPr>
            <a:r>
              <a:t>Tous les fichiers → add_filter / do_action (plugin.php)</a:t>
            </a:r>
            <a:br/>
            <a:r>
              <a:t>→ default-filters.php enregistre des hooks</a:t>
            </a:r>
            <a:br/>
            <a:r>
              <a:t>→ vers fonctions de multiples modules</a:t>
            </a:r>
            <a:br/>
            <a:r>
              <a:t>→ Co-dépendance implicite généralisée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566160" cy="411480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5669280" y="1463040"/>
            <a:ext cx="914400" cy="914400"/>
          </a:xfrm>
          <a:prstGeom prst="donu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Boucle 2 — Formatting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E"/>
                </a:solidFill>
                <a:latin typeface="Segoe UI"/>
              </a:defRPr>
            </a:pPr>
            <a:r>
              <a:t>formatting.php chargé ligne 19 du bootstrap</a:t>
            </a:r>
            <a:br/>
            <a:r>
              <a:t>← appelé par post.php, user.php, media.php</a:t>
            </a:r>
            <a:br/>
            <a:r>
              <a:t>→ qui sont eux-mêmes référencés</a:t>
            </a:r>
            <a:br/>
            <a:r>
              <a:t>→ par formatting.php (boucle implicite)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566160" cy="411480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9509760" y="1463040"/>
            <a:ext cx="914400" cy="914400"/>
          </a:xfrm>
          <a:prstGeom prst="donu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43B"/>
                </a:solidFill>
                <a:latin typeface="Segoe UI"/>
              </a:defRPr>
            </a:pPr>
            <a:r>
              <a:t>Boucle 3 — Option / 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E"/>
                </a:solidFill>
                <a:latin typeface="Segoe UI"/>
              </a:defRPr>
            </a:pPr>
            <a:r>
              <a:t>option.php ↔ post.php / user.php / taxonomy.php</a:t>
            </a:r>
            <a:br/>
            <a:r>
              <a:t>via les invalidations de cache</a:t>
            </a:r>
            <a:br/>
            <a:r>
              <a:t>dans default-filters.php</a:t>
            </a:r>
            <a:br/>
            <a:r>
              <a:t>→ Chaîne de dépendance complexe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69280"/>
            <a:ext cx="11155680" cy="91440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A"/>
                </a:solidFill>
                <a:latin typeface="Segoe UI"/>
              </a:defRPr>
            </a:pPr>
            <a:r>
              <a:t>Le système de hooks agit comme un bus d'événements implicite rendant les dépendances</a:t>
            </a:r>
            <a:br/>
            <a:r>
              <a:t>quasi-impossibles à tracer statiquement. Toute modification d'un module peut avoir des effets de bord imprévisibles.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9AF5"/>
                </a:solidFill>
                <a:latin typeface="Segoe UI"/>
              </a:defRPr>
            </a:pPr>
            <a:r>
              <a:t>Ordre de chargement — wp-settings.php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5029200" cy="381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11480" cy="411480"/>
          </a:xfrm>
          <a:prstGeom prst="roundRect">
            <a:avLst/>
          </a:prstGeom>
          <a:solidFill>
            <a:srgbClr val="A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18872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version.php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Constantes de version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160020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057400"/>
            <a:ext cx="411480" cy="411480"/>
          </a:xfrm>
          <a:prstGeom prst="roundRect">
            <a:avLst/>
          </a:prstGeom>
          <a:solidFill>
            <a:srgbClr val="A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05740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compat.php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Couche de compatibilité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246888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2926080"/>
            <a:ext cx="411480" cy="41148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92608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load.php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Fonctions d'initialisation (58 KB)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33756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3794760"/>
            <a:ext cx="41148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79476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plugin.php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Système de hooks — CRITIQUE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20624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4663440"/>
            <a:ext cx="411480" cy="41148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66344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formatting.php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Formatage texte (353 KB)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07492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7200" y="5532120"/>
            <a:ext cx="411480" cy="41148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553212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577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meta.php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Fonctions métadonnées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188720"/>
            <a:ext cx="411480" cy="41148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118872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functions.php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Fonctions utilitaires (292 KB)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01968" y="160020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00800" y="2057400"/>
            <a:ext cx="411480" cy="41148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205740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default-filters.php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Hooks par défaut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01968" y="246888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00800" y="2926080"/>
            <a:ext cx="411480" cy="41148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292608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Capabilities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wp-roles, wp-role, wp-user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601968" y="333756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400800" y="3794760"/>
            <a:ext cx="41148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0" y="379476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class-wp-query.php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Moteur de requêtes (5 113 lignes)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601968" y="420624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400800" y="4663440"/>
            <a:ext cx="411480" cy="411480"/>
          </a:xfrm>
          <a:prstGeom prst="round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0" y="466344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8660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query.php, theme.php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Fonctions de requête et thème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601968" y="5074920"/>
            <a:ext cx="0" cy="457200"/>
          </a:xfrm>
          <a:prstGeom prst="line">
            <a:avLst/>
          </a:prstGeom>
          <a:ln w="12700">
            <a:solidFill>
              <a:srgbClr val="4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400800" y="5532120"/>
            <a:ext cx="411480" cy="411480"/>
          </a:xfrm>
          <a:prstGeom prst="round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49440" y="5532120"/>
            <a:ext cx="5029200" cy="640080"/>
          </a:xfrm>
          <a:prstGeom prst="roundRect">
            <a:avLst/>
          </a:prstGeom>
          <a:solidFill>
            <a:srgbClr val="222A3F"/>
          </a:solidFill>
          <a:ln w="12700">
            <a:solidFill>
              <a:srgbClr val="35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86600" y="5577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post, user, taxonomy…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Modules métier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1CF66"/>
                </a:solidFill>
                <a:latin typeface="Segoe UI"/>
              </a:defRPr>
            </a:pPr>
            <a:r>
              <a:t>Recommandations de refactoring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4572000" cy="38100"/>
          </a:xfrm>
          <a:prstGeom prst="round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94960" cy="237744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Découper WP_Query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ABE"/>
                </a:solidFill>
                <a:latin typeface="Segoe UI"/>
              </a:defRPr>
            </a:pPr>
            <a:r>
              <a:t>• Extraire la construction SQL → QueryBuilder</a:t>
            </a:r>
            <a:br/>
            <a:r>
              <a:t>• Extraire la gestion de boucle → LoopManager</a:t>
            </a:r>
            <a:br/>
            <a:r>
              <a:t>• Extraire les conditionals → TemplateResolver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237744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548640" cy="41148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Découper post.php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ABE"/>
                </a:solidFill>
                <a:latin typeface="Segoe UI"/>
              </a:defRPr>
            </a:pPr>
            <a:r>
              <a:t>• Séparer CRUD, révisions, attachments, types</a:t>
            </a:r>
            <a:br/>
            <a:r>
              <a:t>• Regrouper les 111 hooks en groupes logiques</a:t>
            </a:r>
            <a:br/>
            <a:r>
              <a:t>• Créer post-crud.php, post-types.php, revisions.php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94960" cy="237744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48640" cy="41148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Découper functions.php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ABE"/>
                </a:solidFill>
                <a:latin typeface="Segoe UI"/>
              </a:defRPr>
            </a:pPr>
            <a:r>
              <a:t>• Regrouper les 214 fonctions par domaine</a:t>
            </a:r>
            <a:br/>
            <a:r>
              <a:t>• Créer : dates.php, arrays.php, urls.php, sanitize.php</a:t>
            </a:r>
            <a:br/>
            <a:r>
              <a:t>• Éliminer le pattern "fourre-tout"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5394960" cy="237744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4114800"/>
            <a:ext cx="548640" cy="41148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F2E"/>
                </a:solidFill>
                <a:latin typeface="Segoe UI"/>
              </a:defRPr>
            </a:pPr>
            <a:r>
              <a:t>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Abstraire wpdb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ABE"/>
                </a:solidFill>
                <a:latin typeface="Segoe UI"/>
              </a:defRPr>
            </a:pPr>
            <a:r>
              <a:t>• Introduire un pattern Repository</a:t>
            </a:r>
            <a:br/>
            <a:r>
              <a:t>• Séparer connexion, sanitisation, exécution</a:t>
            </a:r>
            <a:br/>
            <a:r>
              <a:t>• Permettre des implémentations alternatives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9AF5"/>
                </a:solidFill>
                <a:latin typeface="Segoe UI"/>
              </a:defRPr>
            </a:pPr>
            <a:r>
              <a:t>Synthèse — God Classes &amp; God Files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4572000" cy="381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functions.php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25880"/>
            <a:ext cx="7772400" cy="457200"/>
          </a:xfrm>
          <a:prstGeom prst="round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66160" y="1325880"/>
            <a:ext cx="777240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9,255 lignes  •  214 fn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post.php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4560"/>
            <a:ext cx="7772400" cy="457200"/>
          </a:xfrm>
          <a:prstGeom prst="round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194560"/>
            <a:ext cx="7303788" cy="4572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61388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8,697 lignes  •  145 fn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WP_Customize_Manager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063240"/>
            <a:ext cx="7772400" cy="457200"/>
          </a:xfrm>
          <a:prstGeom prst="round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3063240"/>
            <a:ext cx="5174881" cy="457200"/>
          </a:xfrm>
          <a:prstGeom prst="roundRect">
            <a:avLst/>
          </a:prstGeom>
          <a:solidFill>
            <a:srgbClr val="B07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2481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6,162 lignes  •  117 méthodes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formatting.php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931920"/>
            <a:ext cx="7772400" cy="457200"/>
          </a:xfrm>
          <a:prstGeom prst="round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66160" y="3931920"/>
            <a:ext cx="5284056" cy="45720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1656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6,292 lignes  •  120 fn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WP_Query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800600"/>
            <a:ext cx="7772400" cy="457200"/>
          </a:xfrm>
          <a:prstGeom prst="round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66160" y="4800600"/>
            <a:ext cx="4293925" cy="4572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1525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5,113 lignes  •  68 méthodes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23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wpdb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5669280"/>
            <a:ext cx="7772400" cy="457200"/>
          </a:xfrm>
          <a:prstGeom prst="round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6160" y="5669280"/>
            <a:ext cx="3481833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9433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E"/>
                </a:solidFill>
                <a:latin typeface="Segoe UI"/>
              </a:defRPr>
            </a:pPr>
            <a:r>
              <a:t>4,146 lignes  •  72 méthodes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583680"/>
            <a:ext cx="11247120" cy="12700"/>
          </a:xfrm>
          <a:prstGeom prst="round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4E9AF5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1051560"/>
            <a:ext cx="2103120" cy="381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173736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3 piliers fortement couplés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plugin.php • wpdb • post.php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5303520" cy="173736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Segoe UI"/>
              </a:defRPr>
            </a:pPr>
            <a:r>
              <a:t>5 God Classes/Files identifiés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WP_Query • wpdb • WP_Customize_Manager</a:t>
            </a:r>
            <a:br/>
            <a:r>
              <a:t>functions.php • post.php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5303520" cy="173736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Segoe UI"/>
              </a:defRPr>
            </a:pPr>
            <a:r>
              <a:t>Bus d'événements implicite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Le système de hooks rend les dépendances</a:t>
            </a:r>
            <a:br/>
            <a:r>
              <a:t>difficiles à tracer statiquement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566160"/>
            <a:ext cx="5303520" cy="1737360"/>
          </a:xfrm>
          <a:prstGeom prst="roundRect">
            <a:avLst/>
          </a:prstGeom>
          <a:solidFill>
            <a:srgbClr val="222A3F"/>
          </a:solidFill>
          <a:ln w="25400">
            <a:solidFill>
              <a:srgbClr val="B07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7EF0"/>
                </a:solidFill>
                <a:latin typeface="Segoe UI"/>
              </a:defRPr>
            </a:pPr>
            <a:r>
              <a:t>Dépendances circulaires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06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  <a:latin typeface="Segoe UI"/>
              </a:defRPr>
            </a:pPr>
            <a:r>
              <a:t>3 boucles détectées via le hook system,</a:t>
            </a:r>
            <a:br/>
            <a:r>
              <a:t>formatting et option/meta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760720"/>
            <a:ext cx="9418320" cy="822960"/>
          </a:xfrm>
          <a:prstGeom prst="roundRect">
            <a:avLst/>
          </a:prstGeom>
          <a:solidFill>
            <a:srgbClr val="222A3F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8521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0DA"/>
                </a:solidFill>
                <a:latin typeface="Segoe UI"/>
              </a:defRPr>
            </a:pPr>
            <a:r>
              <a:t>Le couplage fort est un héritage historique de WordPress (2003) — il explique</a:t>
            </a:r>
            <a:br/>
            <a:r>
              <a:t>à la fois la robustesse du CMS et la difficulté à le moderniser.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